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6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81" autoAdjust="0"/>
    <p:restoredTop sz="86391" autoAdjust="0"/>
  </p:normalViewPr>
  <p:slideViewPr>
    <p:cSldViewPr snapToGrid="0">
      <p:cViewPr varScale="1">
        <p:scale>
          <a:sx n="44" d="100"/>
          <a:sy n="44" d="100"/>
        </p:scale>
        <p:origin x="869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ush P" userId="56329a40d34d80c2" providerId="LiveId" clId="{1F43D42F-BA7A-47E2-9ABC-88BEB8B02009}"/>
    <pc:docChg chg="undo custSel addSld delSld modSld sldOrd">
      <pc:chgData name="Dhanush P" userId="56329a40d34d80c2" providerId="LiveId" clId="{1F43D42F-BA7A-47E2-9ABC-88BEB8B02009}" dt="2026-08-19T03:51:18.503" v="385" actId="47"/>
      <pc:docMkLst>
        <pc:docMk/>
      </pc:docMkLst>
      <pc:sldChg chg="modSp mod">
        <pc:chgData name="Dhanush P" userId="56329a40d34d80c2" providerId="LiveId" clId="{1F43D42F-BA7A-47E2-9ABC-88BEB8B02009}" dt="2026-08-19T03:48:23.762" v="381" actId="20577"/>
        <pc:sldMkLst>
          <pc:docMk/>
          <pc:sldMk cId="4131051487" sldId="258"/>
        </pc:sldMkLst>
        <pc:spChg chg="mod">
          <ac:chgData name="Dhanush P" userId="56329a40d34d80c2" providerId="LiveId" clId="{1F43D42F-BA7A-47E2-9ABC-88BEB8B02009}" dt="2026-08-19T03:48:23.762" v="381" actId="20577"/>
          <ac:spMkLst>
            <pc:docMk/>
            <pc:sldMk cId="4131051487" sldId="258"/>
            <ac:spMk id="7" creationId="{E80C5EDF-36E1-B20A-4EE7-25642591F363}"/>
          </ac:spMkLst>
        </pc:spChg>
      </pc:sldChg>
      <pc:sldChg chg="modSp mod">
        <pc:chgData name="Dhanush P" userId="56329a40d34d80c2" providerId="LiveId" clId="{1F43D42F-BA7A-47E2-9ABC-88BEB8B02009}" dt="2026-08-19T03:47:39.782" v="369" actId="1076"/>
        <pc:sldMkLst>
          <pc:docMk/>
          <pc:sldMk cId="2712314714" sldId="259"/>
        </pc:sldMkLst>
        <pc:spChg chg="mod">
          <ac:chgData name="Dhanush P" userId="56329a40d34d80c2" providerId="LiveId" clId="{1F43D42F-BA7A-47E2-9ABC-88BEB8B02009}" dt="2026-08-19T03:47:39.782" v="369" actId="1076"/>
          <ac:spMkLst>
            <pc:docMk/>
            <pc:sldMk cId="2712314714" sldId="259"/>
            <ac:spMk id="11" creationId="{F0DA0EFA-A4E7-C14A-77D1-FB661563C410}"/>
          </ac:spMkLst>
        </pc:spChg>
      </pc:sldChg>
      <pc:sldChg chg="ord">
        <pc:chgData name="Dhanush P" userId="56329a40d34d80c2" providerId="LiveId" clId="{1F43D42F-BA7A-47E2-9ABC-88BEB8B02009}" dt="2026-08-19T03:32:41.896" v="194"/>
        <pc:sldMkLst>
          <pc:docMk/>
          <pc:sldMk cId="1321699848" sldId="260"/>
        </pc:sldMkLst>
      </pc:sldChg>
      <pc:sldChg chg="modSp mod ord">
        <pc:chgData name="Dhanush P" userId="56329a40d34d80c2" providerId="LiveId" clId="{1F43D42F-BA7A-47E2-9ABC-88BEB8B02009}" dt="2026-08-19T03:32:40.333" v="192"/>
        <pc:sldMkLst>
          <pc:docMk/>
          <pc:sldMk cId="3534381961" sldId="266"/>
        </pc:sldMkLst>
        <pc:spChg chg="mod">
          <ac:chgData name="Dhanush P" userId="56329a40d34d80c2" providerId="LiveId" clId="{1F43D42F-BA7A-47E2-9ABC-88BEB8B02009}" dt="2026-08-19T03:32:32.538" v="187" actId="1076"/>
          <ac:spMkLst>
            <pc:docMk/>
            <pc:sldMk cId="3534381961" sldId="266"/>
            <ac:spMk id="3" creationId="{BF79DB67-4E62-F4A9-0F84-D7EF1DCA261F}"/>
          </ac:spMkLst>
        </pc:spChg>
      </pc:sldChg>
      <pc:sldChg chg="modSp add mod">
        <pc:chgData name="Dhanush P" userId="56329a40d34d80c2" providerId="LiveId" clId="{1F43D42F-BA7A-47E2-9ABC-88BEB8B02009}" dt="2026-08-19T03:49:11.050" v="384" actId="14734"/>
        <pc:sldMkLst>
          <pc:docMk/>
          <pc:sldMk cId="2343066160" sldId="267"/>
        </pc:sldMkLst>
        <pc:spChg chg="mod">
          <ac:chgData name="Dhanush P" userId="56329a40d34d80c2" providerId="LiveId" clId="{1F43D42F-BA7A-47E2-9ABC-88BEB8B02009}" dt="2026-08-19T03:47:51.743" v="378" actId="1076"/>
          <ac:spMkLst>
            <pc:docMk/>
            <pc:sldMk cId="2343066160" sldId="267"/>
            <ac:spMk id="11" creationId="{84C196B5-2630-734D-3CF2-781DAFE22941}"/>
          </ac:spMkLst>
        </pc:spChg>
      </pc:sldChg>
    </pc:docChg>
  </pc:docChgLst>
  <pc:docChgLst>
    <pc:chgData name="Akshith Reddy" userId="0c794c03690e2b30" providerId="LiveId" clId="{963A5ABB-9B81-4385-A1A8-87253BE2AB02}"/>
    <pc:docChg chg="modSld">
      <pc:chgData name="Akshith Reddy" userId="0c794c03690e2b30" providerId="LiveId" clId="{963A5ABB-9B81-4385-A1A8-87253BE2AB02}" dt="2026-08-22T05:33:02.569" v="0" actId="20577"/>
      <pc:docMkLst>
        <pc:docMk/>
      </pc:docMkLst>
      <pc:sldChg chg="modSp mod">
        <pc:chgData name="Akshith Reddy" userId="0c794c03690e2b30" providerId="LiveId" clId="{963A5ABB-9B81-4385-A1A8-87253BE2AB02}" dt="2026-08-22T05:33:02.569" v="0" actId="20577"/>
        <pc:sldMkLst>
          <pc:docMk/>
          <pc:sldMk cId="1307103314" sldId="270"/>
        </pc:sldMkLst>
        <pc:spChg chg="mod">
          <ac:chgData name="Akshith Reddy" userId="0c794c03690e2b30" providerId="LiveId" clId="{963A5ABB-9B81-4385-A1A8-87253BE2AB02}" dt="2026-08-22T05:33:02.569" v="0" actId="20577"/>
          <ac:spMkLst>
            <pc:docMk/>
            <pc:sldMk cId="1307103314" sldId="270"/>
            <ac:spMk id="3" creationId="{AF5890D5-7ED8-6E65-0F74-E7EFCFA3EE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FD6F-99B4-27CB-3E61-5E01716B3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510E4-8791-DBD6-A515-8E1F67A23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2D7D0-E3B7-1AD9-6E10-153D10B2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CFDDE-53C8-09AB-BD7F-76772030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87915-E035-FBA6-BF25-E87F505B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910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244E-D864-13C0-4324-D1EA8A92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6B041-6599-CA9A-716A-0AC6568D9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7FEB6-DEFD-905D-2D9A-A68BDC4C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3D099-B171-347E-0BCC-241AC24D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03D37-20A4-732D-ADC9-798CC77C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32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207AE-DAB9-C6BF-B02E-D9EB033A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54AD8-E529-8310-2A54-FF3C869F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12EDE-1BF3-8873-5BD9-57609A8F1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914A7-79EA-C32E-26A3-CAF1F172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82933-5B33-5612-1E93-58712098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41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74976-14D9-1DA9-6D3C-FC9D1C04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B8152-A2AD-60BD-8023-1DB6F5736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07268-E4AC-AAFA-809B-A7FACCEB5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BB2F7-C0C7-0686-CE35-4D0AC18F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8F08A-77CC-384A-28A2-DCB62C97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E177E-460C-AF3E-4FBD-7BB0C0E6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67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F6ED-1CD0-C35A-41AE-66C26C65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99286-5F36-0386-B98B-E3307C6B3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601A9-AB25-8D84-D822-714508ED4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3AA44-664C-5A7B-B4EF-B0615A39F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2492E-AB38-F05F-9FF4-D91A9C7A2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821CF-4728-B0FB-B2A4-1E0D4F42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F0834-7607-B67F-B9A3-161F70FF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9D70A-AA5B-A1FB-9F8A-16F09BD5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99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47B8-ED1B-BC1F-FD2A-8A93B009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0CEC5-5DE4-A4C2-0916-80CA48C8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C91DE-0ABC-7AF0-99A3-6C1F03F4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2629A-4476-1DA2-5CF0-A17BA2FF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372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EA375-E64B-FC59-E60C-C7E60FEE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F6B6D-FC64-E39A-0CF6-137FFB39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48588-12BE-2992-8A4B-80CF6244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33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BEAB-E780-DC66-4645-14026847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1A3F1-D3D3-03B4-F4FE-09289DF97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8737F-46A0-F644-1BE2-A39CCA853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D3E43-4BFE-6EEB-7E5D-C3E6E521C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B7744-A95B-C829-0983-58B7AA69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8981-AA73-8DA8-88E7-86319DCA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4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0A99-6350-8DD8-003A-8C2D6A23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377BB-194E-3C4D-0195-11DD94BC1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F5680-4760-9856-6BFA-FED5FE96C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184B0-721A-CFF5-DFA8-086A9F14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4E9EC-6EFC-B100-D4FE-7750A68D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B3682-320C-4AEC-051E-CE99DDBF0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20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05A4-FFC0-60D2-4411-51F9BD25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EFAD6-8C08-910A-3E6C-48DBB4334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46380-3316-55C5-BAFF-B526DCFB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15194-2BD3-A3BC-1896-1CFA74F4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FD476-9D32-6EAB-CDCE-20DDF0F3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8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2A771-CE8F-4BE4-E853-07C2F00EE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48D1E-30D1-2207-C542-9E92B0A34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580C6-8CDA-A684-9E44-09532317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8F739-8772-2624-0371-14A3C018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63732-2DB4-5C2D-1011-4AADB281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9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1DA85-17C2-F18F-3674-C83705E9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B70EF-231B-898E-8C56-4EC79FFCB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24A2D-600C-B6DE-BAE5-70AEBAACE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F34BA-1B9B-44B6-A5D6-6882C9FB0354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88926-842D-CF1C-93EC-177F4E693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7DD65-9B4B-93A7-B4F7-164DB0594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EB6CF-1332-4B2E-BAB9-76E646DDC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7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C6623-7679-BA0C-6DF3-53814C43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F2ADD0-58A3-5ACB-EB59-08EA47C86983}"/>
              </a:ext>
            </a:extLst>
          </p:cNvPr>
          <p:cNvSpPr txBox="1"/>
          <p:nvPr/>
        </p:nvSpPr>
        <p:spPr>
          <a:xfrm>
            <a:off x="2142066" y="1617133"/>
            <a:ext cx="8288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Deep Learning Framework for Automated Plant Disease Detection Using Leaf Images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54382-B7A4-79B3-50E2-348160005286}"/>
              </a:ext>
            </a:extLst>
          </p:cNvPr>
          <p:cNvSpPr txBox="1"/>
          <p:nvPr/>
        </p:nvSpPr>
        <p:spPr>
          <a:xfrm>
            <a:off x="8551333" y="5334000"/>
            <a:ext cx="35136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- 9</a:t>
            </a:r>
          </a:p>
          <a:p>
            <a:r>
              <a:rPr lang="en-IN" dirty="0"/>
              <a:t>2420030377 – V Sudhir Naik</a:t>
            </a:r>
          </a:p>
          <a:p>
            <a:r>
              <a:rPr lang="en-IN" dirty="0"/>
              <a:t>2420080030 –G Akshith Reddy</a:t>
            </a:r>
          </a:p>
          <a:p>
            <a:r>
              <a:rPr lang="en-IN" dirty="0"/>
              <a:t>2420080068 – K Harish Reddy</a:t>
            </a:r>
          </a:p>
          <a:p>
            <a:r>
              <a:rPr lang="en-IN" dirty="0"/>
              <a:t>2420090053 –K Yaswanth Reddy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1A5EA-CF31-C0D7-374C-AA422943462F}"/>
              </a:ext>
            </a:extLst>
          </p:cNvPr>
          <p:cNvSpPr txBox="1"/>
          <p:nvPr/>
        </p:nvSpPr>
        <p:spPr>
          <a:xfrm>
            <a:off x="2133601" y="2827867"/>
            <a:ext cx="87629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Domain:</a:t>
            </a:r>
            <a:r>
              <a:rPr lang="en-IN" dirty="0"/>
              <a:t> Agriculture &amp; Plant Disease Detection using Deep Learning </a:t>
            </a:r>
          </a:p>
          <a:p>
            <a:pPr lvl="0"/>
            <a:r>
              <a:rPr lang="en-IN" b="1" dirty="0"/>
              <a:t>Core Technologies:</a:t>
            </a:r>
            <a:r>
              <a:rPr lang="en-IN" dirty="0"/>
              <a:t> Convolutional Neural Networks (CNN), Transfer Learning, </a:t>
            </a:r>
            <a:r>
              <a:rPr lang="en-IN" dirty="0" err="1"/>
              <a:t>EfficientNet</a:t>
            </a:r>
            <a:r>
              <a:rPr lang="en-IN" dirty="0"/>
              <a:t>, TensorFlow/</a:t>
            </a:r>
            <a:r>
              <a:rPr lang="en-IN" dirty="0" err="1"/>
              <a:t>Keras</a:t>
            </a:r>
            <a:r>
              <a:rPr lang="en-IN" dirty="0"/>
              <a:t>, OpenCV </a:t>
            </a:r>
          </a:p>
          <a:p>
            <a:pPr lvl="0"/>
            <a:r>
              <a:rPr lang="en-IN" b="1" dirty="0"/>
              <a:t>Dataset:</a:t>
            </a:r>
            <a:r>
              <a:rPr lang="en-IN" dirty="0"/>
              <a:t> </a:t>
            </a:r>
            <a:r>
              <a:rPr lang="en-IN" dirty="0" err="1"/>
              <a:t>PlantVillage</a:t>
            </a:r>
            <a:r>
              <a:rPr lang="en-IN" dirty="0"/>
              <a:t> &amp; </a:t>
            </a:r>
            <a:r>
              <a:rPr lang="en-IN" dirty="0" err="1"/>
              <a:t>PlantDoc</a:t>
            </a:r>
            <a:endParaRPr lang="en-IN" dirty="0"/>
          </a:p>
          <a:p>
            <a:pPr lvl="0"/>
            <a:r>
              <a:rPr lang="en-IN" b="1" dirty="0"/>
              <a:t>Team Structure:</a:t>
            </a:r>
            <a:r>
              <a:rPr lang="en-IN" dirty="0"/>
              <a:t> 4-Member Collaborative Project (Built using Open-Source &amp; Free Tools) </a:t>
            </a:r>
          </a:p>
          <a:p>
            <a:pPr lvl="0"/>
            <a:r>
              <a:rPr lang="en-IN" b="1" dirty="0"/>
              <a:t>Development Platform:</a:t>
            </a:r>
            <a:r>
              <a:rPr lang="en-IN" dirty="0"/>
              <a:t> Python, Google </a:t>
            </a:r>
            <a:r>
              <a:rPr lang="en-IN" dirty="0" err="1"/>
              <a:t>Colab</a:t>
            </a:r>
            <a:r>
              <a:rPr lang="en-IN" dirty="0"/>
              <a:t> / Jupyter Notebook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18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D2AC24-626C-2EF3-9696-B1B658F0A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A4E18B-CD00-7350-2492-E29738620249}"/>
              </a:ext>
            </a:extLst>
          </p:cNvPr>
          <p:cNvSpPr txBox="1"/>
          <p:nvPr/>
        </p:nvSpPr>
        <p:spPr>
          <a:xfrm>
            <a:off x="4504266" y="1380067"/>
            <a:ext cx="68749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64E92-0CC2-9179-BE58-E084BBA51244}"/>
              </a:ext>
            </a:extLst>
          </p:cNvPr>
          <p:cNvSpPr txBox="1"/>
          <p:nvPr/>
        </p:nvSpPr>
        <p:spPr>
          <a:xfrm>
            <a:off x="1041401" y="2709333"/>
            <a:ext cx="10143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Early identification of plant diseases is important to prevent crop loss. However, manually identifying diseases from leaf images requires experience and can take considerable time. Our project aims to develop a deep learning-based system that </a:t>
            </a:r>
            <a:r>
              <a:rPr lang="en-IN" dirty="0" err="1"/>
              <a:t>analyzes</a:t>
            </a:r>
            <a:r>
              <a:rPr lang="en-IN" dirty="0"/>
              <a:t> a leaf image and predicts whether the plant is healthy or affected by a particular disease.</a:t>
            </a:r>
          </a:p>
        </p:txBody>
      </p:sp>
    </p:spTree>
    <p:extLst>
      <p:ext uri="{BB962C8B-B14F-4D97-AF65-F5344CB8AC3E}">
        <p14:creationId xmlns:p14="http://schemas.microsoft.com/office/powerpoint/2010/main" val="681904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14C62A-A6D5-85D4-F511-F40C872C9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5168B5-6A18-E97B-F75A-5808BCAC6637}"/>
              </a:ext>
            </a:extLst>
          </p:cNvPr>
          <p:cNvSpPr txBox="1"/>
          <p:nvPr/>
        </p:nvSpPr>
        <p:spPr>
          <a:xfrm>
            <a:off x="5063066" y="1346200"/>
            <a:ext cx="5943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C5EDF-36E1-B20A-4EE7-25642591F363}"/>
              </a:ext>
            </a:extLst>
          </p:cNvPr>
          <p:cNvSpPr txBox="1"/>
          <p:nvPr/>
        </p:nvSpPr>
        <p:spPr>
          <a:xfrm>
            <a:off x="787400" y="1888067"/>
            <a:ext cx="10261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 Develop The Project :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Automated Plant Disease Detection:</a:t>
            </a:r>
            <a:r>
              <a:rPr lang="en-IN" dirty="0"/>
              <a:t> Develop a deep learning model using </a:t>
            </a:r>
            <a:r>
              <a:rPr lang="en-IN" b="1" dirty="0" err="1"/>
              <a:t>EfficientNet</a:t>
            </a:r>
            <a:r>
              <a:rPr lang="en-IN" b="1" dirty="0"/>
              <a:t> and Transfer Learning</a:t>
            </a:r>
            <a:r>
              <a:rPr lang="en-IN" dirty="0"/>
              <a:t> to classify plant leaf images as healthy or affected by specific diseases.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Disease Classification &amp; Evaluation:</a:t>
            </a:r>
            <a:r>
              <a:rPr lang="en-IN" dirty="0"/>
              <a:t> Train and evaluate the model using the </a:t>
            </a:r>
            <a:r>
              <a:rPr lang="en-IN" dirty="0" err="1"/>
              <a:t>PlantVillage</a:t>
            </a:r>
            <a:r>
              <a:rPr lang="en-IN" dirty="0"/>
              <a:t> dataset and measure its performance using Accuracy, Precision, Recall, F1-Score, and Confusion Matrix.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lvl="0"/>
            <a:r>
              <a:rPr lang="en-IN" b="1" dirty="0"/>
              <a:t>To Enhance The Features :</a:t>
            </a:r>
          </a:p>
          <a:p>
            <a:pPr lvl="0"/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Confidence-Based Prediction:</a:t>
            </a:r>
            <a:r>
              <a:rPr lang="en-IN" dirty="0"/>
              <a:t> Provide the predicted plant disease along with a </a:t>
            </a:r>
            <a:r>
              <a:rPr lang="en-IN" b="1" dirty="0"/>
              <a:t>confidence score</a:t>
            </a:r>
            <a:r>
              <a:rPr lang="en-IN" dirty="0"/>
              <a:t>, helping users understand the reliability of the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User-Friendly Detection Interface:</a:t>
            </a:r>
            <a:r>
              <a:rPr lang="en-IN" dirty="0"/>
              <a:t> Develop a simple </a:t>
            </a:r>
            <a:r>
              <a:rPr lang="en-IN" b="1" dirty="0" err="1"/>
              <a:t>Streamlit</a:t>
            </a:r>
            <a:r>
              <a:rPr lang="en-IN" b="1" dirty="0"/>
              <a:t> web interface</a:t>
            </a:r>
            <a:r>
              <a:rPr lang="en-IN" dirty="0"/>
              <a:t> that allows users to upload a leaf image and receive the disease prediction quickly.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05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A9AB93-8B00-B61B-25B0-23DA03DDF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DA0EFA-A4E7-C14A-77D1-FB661563C410}"/>
              </a:ext>
            </a:extLst>
          </p:cNvPr>
          <p:cNvSpPr txBox="1"/>
          <p:nvPr/>
        </p:nvSpPr>
        <p:spPr>
          <a:xfrm>
            <a:off x="5071533" y="12038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en-IN" b="1" dirty="0">
                <a:solidFill>
                  <a:srgbClr val="1F1F1F"/>
                </a:solidFill>
                <a:effectLst/>
                <a:latin typeface="Google Sans"/>
              </a:rPr>
              <a:t>Literature Survey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6204D0-AEE1-C246-0562-57D32E61D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29" y="1881609"/>
            <a:ext cx="10806141" cy="437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1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E973-3F7B-44B2-739E-D7DA7299E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822B57-2B62-200C-7F6B-D10F9DD17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C196B5-2630-734D-3CF2-781DAFE22941}"/>
              </a:ext>
            </a:extLst>
          </p:cNvPr>
          <p:cNvSpPr txBox="1"/>
          <p:nvPr/>
        </p:nvSpPr>
        <p:spPr>
          <a:xfrm>
            <a:off x="5113866" y="11276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en-IN" b="1" dirty="0">
                <a:solidFill>
                  <a:srgbClr val="1F1F1F"/>
                </a:solidFill>
                <a:effectLst/>
                <a:latin typeface="Google Sans"/>
              </a:rPr>
              <a:t>Literature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C2DBBC-D0FD-EF31-1944-D7E375F6E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34" y="1480865"/>
            <a:ext cx="9647766" cy="483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6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AC9A9C-6AD7-9C54-01CF-CBCD0B243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7088FF-EF0D-406A-8B5A-FBFFE903A42C}"/>
              </a:ext>
            </a:extLst>
          </p:cNvPr>
          <p:cNvSpPr txBox="1"/>
          <p:nvPr/>
        </p:nvSpPr>
        <p:spPr>
          <a:xfrm>
            <a:off x="4292600" y="1320800"/>
            <a:ext cx="52493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Research Gap Identification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799FE-8D4D-8D9E-E5C3-A5BD0D235E1A}"/>
              </a:ext>
            </a:extLst>
          </p:cNvPr>
          <p:cNvSpPr txBox="1"/>
          <p:nvPr/>
        </p:nvSpPr>
        <p:spPr>
          <a:xfrm>
            <a:off x="1676400" y="2480733"/>
            <a:ext cx="93302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Gap 1: Limited Real-World Image Generalization:</a:t>
            </a:r>
            <a:r>
              <a:rPr lang="en-IN" dirty="0"/>
              <a:t> Existing plant disease models often perform well on </a:t>
            </a:r>
            <a:r>
              <a:rPr lang="en-IN" b="1" dirty="0"/>
              <a:t>controlled leaf images</a:t>
            </a:r>
            <a:r>
              <a:rPr lang="en-IN" dirty="0"/>
              <a:t>, but their performance can decrease when images contain different lighting, backgrounds, angles, or image quality.</a:t>
            </a:r>
          </a:p>
          <a:p>
            <a:r>
              <a:rPr lang="en-IN" dirty="0"/>
              <a:t>•</a:t>
            </a:r>
          </a:p>
          <a:p>
            <a:r>
              <a:rPr lang="en-IN" dirty="0"/>
              <a:t>• </a:t>
            </a:r>
            <a:r>
              <a:rPr lang="en-IN" b="1" dirty="0"/>
              <a:t>Gap 2: High Dependence on Large Datasets:</a:t>
            </a:r>
            <a:r>
              <a:rPr lang="en-IN" dirty="0"/>
              <a:t> Many existing deep learning approaches require </a:t>
            </a:r>
            <a:r>
              <a:rPr lang="en-IN" b="1" dirty="0"/>
              <a:t>large </a:t>
            </a:r>
            <a:r>
              <a:rPr lang="en-IN" b="1" dirty="0" err="1"/>
              <a:t>labeled</a:t>
            </a:r>
            <a:r>
              <a:rPr lang="en-IN" b="1" dirty="0"/>
              <a:t> datasets and high computational resources</a:t>
            </a:r>
            <a:r>
              <a:rPr lang="en-IN" dirty="0"/>
              <a:t>, making training difficult for resource-limited users.</a:t>
            </a:r>
          </a:p>
          <a:p>
            <a:r>
              <a:rPr lang="en-IN" dirty="0"/>
              <a:t>•</a:t>
            </a:r>
          </a:p>
          <a:p>
            <a:r>
              <a:rPr lang="en-IN" dirty="0"/>
              <a:t>• </a:t>
            </a:r>
            <a:r>
              <a:rPr lang="en-IN" b="1" dirty="0"/>
              <a:t>Gap 3: Lack of User-Friendly Practical Systems:</a:t>
            </a:r>
            <a:r>
              <a:rPr lang="en-IN" dirty="0"/>
              <a:t> Many studies focus mainly on </a:t>
            </a:r>
            <a:r>
              <a:rPr lang="en-IN" b="1" dirty="0"/>
              <a:t>disease classification and accuracy</a:t>
            </a:r>
            <a:r>
              <a:rPr lang="en-IN" dirty="0"/>
              <a:t>, while fewer provide a simple system where users can upload a leaf image and directly receive a disease prediction with a confidence score.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699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CB04C-7359-847C-88A0-6AA45EF4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0BE1C8-6990-9BED-144C-A1C3BA8BC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9DB67-4E62-F4A9-0F84-D7EF1DCA261F}"/>
              </a:ext>
            </a:extLst>
          </p:cNvPr>
          <p:cNvSpPr txBox="1"/>
          <p:nvPr/>
        </p:nvSpPr>
        <p:spPr>
          <a:xfrm>
            <a:off x="778932" y="1369621"/>
            <a:ext cx="10278533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/>
              <a:t>Datasets</a:t>
            </a:r>
          </a:p>
          <a:p>
            <a:pPr algn="ctr"/>
            <a:endParaRPr lang="en-IN" sz="2200" b="1" dirty="0"/>
          </a:p>
          <a:p>
            <a:pPr algn="ctr"/>
            <a:endParaRPr lang="en-IN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Datasets</a:t>
            </a:r>
          </a:p>
          <a:p>
            <a:r>
              <a:rPr lang="en-IN" dirty="0"/>
              <a:t>• </a:t>
            </a:r>
            <a:r>
              <a:rPr lang="en-IN" b="1" dirty="0" err="1"/>
              <a:t>PlantVillage</a:t>
            </a:r>
            <a:r>
              <a:rPr lang="en-IN" b="1" dirty="0"/>
              <a:t>:</a:t>
            </a:r>
            <a:r>
              <a:rPr lang="en-IN" dirty="0"/>
              <a:t> Plant disease image dataset — </a:t>
            </a:r>
            <a:r>
              <a:rPr lang="en-IN" b="1" dirty="0"/>
              <a:t>54,306 healthy and diseased leaf images covering 14 crop species and 26 diseases.</a:t>
            </a:r>
            <a:br>
              <a:rPr lang="en-IN" dirty="0"/>
            </a:br>
            <a:r>
              <a:rPr lang="en-IN" b="1" dirty="0"/>
              <a:t>Sourced from:</a:t>
            </a:r>
            <a:r>
              <a:rPr lang="en-IN" dirty="0"/>
              <a:t> GitHub / Hugging Face. </a:t>
            </a:r>
          </a:p>
          <a:p>
            <a:r>
              <a:rPr lang="en-IN" dirty="0"/>
              <a:t>•</a:t>
            </a:r>
          </a:p>
          <a:p>
            <a:r>
              <a:rPr lang="en-IN" dirty="0"/>
              <a:t>• </a:t>
            </a:r>
            <a:r>
              <a:rPr lang="en-IN" b="1" dirty="0" err="1"/>
              <a:t>PlantDoc</a:t>
            </a:r>
            <a:r>
              <a:rPr lang="en-IN" b="1" dirty="0"/>
              <a:t>:</a:t>
            </a:r>
            <a:r>
              <a:rPr lang="en-IN" dirty="0"/>
              <a:t> Real-world plant disease image dataset — </a:t>
            </a:r>
            <a:r>
              <a:rPr lang="en-IN" b="1" dirty="0"/>
              <a:t>2,598 images covering 13 plant species and up to 17 disease classes.</a:t>
            </a:r>
            <a:br>
              <a:rPr lang="en-IN" dirty="0"/>
            </a:br>
            <a:r>
              <a:rPr lang="en-IN" b="1" dirty="0"/>
              <a:t>Sourced from:</a:t>
            </a:r>
            <a:r>
              <a:rPr lang="en-IN" dirty="0"/>
              <a:t> GitHub.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38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08B404-5853-6DB4-9054-BB7EA572A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85732A-6B08-AE6B-83A8-5EEA5F99D943}"/>
              </a:ext>
            </a:extLst>
          </p:cNvPr>
          <p:cNvSpPr txBox="1"/>
          <p:nvPr/>
        </p:nvSpPr>
        <p:spPr>
          <a:xfrm>
            <a:off x="423333" y="1244601"/>
            <a:ext cx="115908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Innovation (Technical Advancements)</a:t>
            </a:r>
          </a:p>
          <a:p>
            <a:r>
              <a:rPr lang="en-IN" dirty="0"/>
              <a:t>• </a:t>
            </a:r>
            <a:r>
              <a:rPr lang="en-IN" b="1" dirty="0"/>
              <a:t>Transfer Learning:</a:t>
            </a:r>
            <a:r>
              <a:rPr lang="en-IN" dirty="0"/>
              <a:t> Uses a pre-trained </a:t>
            </a:r>
            <a:r>
              <a:rPr lang="en-IN" b="1" dirty="0" err="1"/>
              <a:t>EfficientNet</a:t>
            </a:r>
            <a:r>
              <a:rPr lang="en-IN" dirty="0"/>
              <a:t> model to extract important visual features from plant leaf images and reduce training time.</a:t>
            </a:r>
          </a:p>
          <a:p>
            <a:r>
              <a:rPr lang="en-IN" dirty="0"/>
              <a:t>• </a:t>
            </a:r>
            <a:r>
              <a:rPr lang="en-IN" b="1" dirty="0"/>
              <a:t>Image Augmentation:</a:t>
            </a:r>
            <a:r>
              <a:rPr lang="en-IN" dirty="0"/>
              <a:t> Applies image transformations such as </a:t>
            </a:r>
            <a:r>
              <a:rPr lang="en-IN" b="1" dirty="0"/>
              <a:t>rotation, flipping, and scaling</a:t>
            </a:r>
            <a:r>
              <a:rPr lang="en-IN" dirty="0"/>
              <a:t> to improve the model's ability to handle different leaf image conditions.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Creativity (Unique Features &amp; UX)</a:t>
            </a:r>
          </a:p>
          <a:p>
            <a:r>
              <a:rPr lang="en-IN" dirty="0"/>
              <a:t>• </a:t>
            </a:r>
            <a:r>
              <a:rPr lang="en-IN" b="1" dirty="0"/>
              <a:t>Simple Leaf Image Upload:</a:t>
            </a:r>
            <a:r>
              <a:rPr lang="en-IN" dirty="0"/>
              <a:t> Allows users to upload a plant leaf image and receive a disease prediction without requiring technical knowledge.</a:t>
            </a:r>
          </a:p>
          <a:p>
            <a:r>
              <a:rPr lang="en-IN" dirty="0"/>
              <a:t>• </a:t>
            </a:r>
            <a:r>
              <a:rPr lang="en-IN" b="1" dirty="0"/>
              <a:t>Confidence-Based Prediction:</a:t>
            </a:r>
            <a:r>
              <a:rPr lang="en-IN" dirty="0"/>
              <a:t> Displays the predicted disease along with a </a:t>
            </a:r>
            <a:r>
              <a:rPr lang="en-IN" b="1" dirty="0"/>
              <a:t>confidence score</a:t>
            </a:r>
            <a:r>
              <a:rPr lang="en-IN" dirty="0"/>
              <a:t>, making the result easier to understand.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Novelty (Unique Value Proposition)</a:t>
            </a:r>
          </a:p>
          <a:p>
            <a:r>
              <a:rPr lang="en-IN" dirty="0"/>
              <a:t>• </a:t>
            </a:r>
            <a:r>
              <a:rPr lang="en-IN" b="1" dirty="0"/>
              <a:t>Efficient End-to-End Framework:</a:t>
            </a:r>
            <a:r>
              <a:rPr lang="en-IN" dirty="0"/>
              <a:t> Combines </a:t>
            </a:r>
            <a:r>
              <a:rPr lang="en-IN" b="1" dirty="0"/>
              <a:t>image preprocessing, augmentation, </a:t>
            </a:r>
            <a:r>
              <a:rPr lang="en-IN" b="1" dirty="0" err="1"/>
              <a:t>EfficientNet</a:t>
            </a:r>
            <a:r>
              <a:rPr lang="en-IN" b="1" dirty="0"/>
              <a:t>-based transfer learning, classification, and prediction</a:t>
            </a:r>
            <a:r>
              <a:rPr lang="en-IN" dirty="0"/>
              <a:t> into a single system.</a:t>
            </a:r>
          </a:p>
          <a:p>
            <a:r>
              <a:rPr lang="en-IN" dirty="0"/>
              <a:t>• </a:t>
            </a:r>
            <a:r>
              <a:rPr lang="en-IN" b="1" dirty="0"/>
              <a:t>Practical &amp; Low-Cost Solution:</a:t>
            </a:r>
            <a:r>
              <a:rPr lang="en-IN" dirty="0"/>
              <a:t> Uses </a:t>
            </a:r>
            <a:r>
              <a:rPr lang="en-IN" b="1" dirty="0" err="1"/>
              <a:t>PlantVillage</a:t>
            </a:r>
            <a:r>
              <a:rPr lang="en-IN" b="1" dirty="0"/>
              <a:t>, Python, TensorFlow/</a:t>
            </a:r>
            <a:r>
              <a:rPr lang="en-IN" b="1" dirty="0" err="1"/>
              <a:t>Keras</a:t>
            </a:r>
            <a:r>
              <a:rPr lang="en-IN" b="1" dirty="0"/>
              <a:t>, and Google </a:t>
            </a:r>
            <a:r>
              <a:rPr lang="en-IN" b="1" dirty="0" err="1"/>
              <a:t>Colab</a:t>
            </a:r>
            <a:r>
              <a:rPr lang="en-IN" dirty="0"/>
              <a:t>, making the system possible to develop using mostly free and open-source tools.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50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E2F0D2-03E4-F8DA-FDBD-53194B114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27927D-EFE6-DCF7-A9C4-EBBBD1500620}"/>
              </a:ext>
            </a:extLst>
          </p:cNvPr>
          <p:cNvSpPr txBox="1"/>
          <p:nvPr/>
        </p:nvSpPr>
        <p:spPr>
          <a:xfrm>
            <a:off x="4622800" y="1380066"/>
            <a:ext cx="6527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Feasibility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FE54F-73D0-0083-7E9B-D942A3278112}"/>
              </a:ext>
            </a:extLst>
          </p:cNvPr>
          <p:cNvSpPr txBox="1"/>
          <p:nvPr/>
        </p:nvSpPr>
        <p:spPr>
          <a:xfrm>
            <a:off x="1583266" y="2463800"/>
            <a:ext cx="9347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 Feasibility:</a:t>
            </a:r>
            <a:r>
              <a:rPr lang="en-IN" dirty="0"/>
              <a:t> Uses </a:t>
            </a:r>
            <a:r>
              <a:rPr lang="en-IN" dirty="0" err="1"/>
              <a:t>EfficientNet</a:t>
            </a:r>
            <a:r>
              <a:rPr lang="en-IN" dirty="0"/>
              <a:t> with Transfer Learning, which reduces training requirements and can be trained using GPU resources available through Google </a:t>
            </a:r>
            <a:r>
              <a:rPr lang="en-IN" dirty="0" err="1"/>
              <a:t>Colab</a:t>
            </a:r>
            <a:r>
              <a:rPr lang="en-IN" dirty="0"/>
              <a:t>..</a:t>
            </a:r>
          </a:p>
          <a:p>
            <a:r>
              <a:rPr lang="en-IN" dirty="0"/>
              <a:t>• </a:t>
            </a:r>
            <a:r>
              <a:rPr lang="en-IN" b="1" dirty="0"/>
              <a:t>Data Feasibility:</a:t>
            </a:r>
            <a:r>
              <a:rPr lang="en-IN" dirty="0"/>
              <a:t> Uses publicly available </a:t>
            </a:r>
            <a:r>
              <a:rPr lang="en-IN" b="1" dirty="0" err="1"/>
              <a:t>PlantVillage</a:t>
            </a:r>
            <a:r>
              <a:rPr lang="en-IN" dirty="0"/>
              <a:t> and </a:t>
            </a:r>
            <a:r>
              <a:rPr lang="en-IN" b="1" dirty="0" err="1"/>
              <a:t>PlantDoc</a:t>
            </a:r>
            <a:r>
              <a:rPr lang="en-IN" dirty="0"/>
              <a:t> datasets containing </a:t>
            </a:r>
            <a:r>
              <a:rPr lang="en-IN" dirty="0" err="1"/>
              <a:t>labeled</a:t>
            </a:r>
            <a:r>
              <a:rPr lang="en-IN" dirty="0"/>
              <a:t> plant leaf images for disease classification.</a:t>
            </a:r>
          </a:p>
          <a:p>
            <a:r>
              <a:rPr lang="en-IN" dirty="0"/>
              <a:t>• </a:t>
            </a:r>
            <a:r>
              <a:rPr lang="en-IN" b="1" dirty="0"/>
              <a:t>Operational &amp; Cost Feasibility:</a:t>
            </a:r>
            <a:r>
              <a:rPr lang="en-IN" dirty="0"/>
              <a:t> Uses </a:t>
            </a:r>
            <a:r>
              <a:rPr lang="en-IN" b="1" dirty="0"/>
              <a:t>Python, TensorFlow/</a:t>
            </a:r>
            <a:r>
              <a:rPr lang="en-IN" b="1" dirty="0" err="1"/>
              <a:t>Keras</a:t>
            </a:r>
            <a:r>
              <a:rPr lang="en-IN" b="1" dirty="0"/>
              <a:t>, OpenCV, and Google </a:t>
            </a:r>
            <a:r>
              <a:rPr lang="en-IN" b="1" dirty="0" err="1"/>
              <a:t>Colab</a:t>
            </a:r>
            <a:r>
              <a:rPr lang="en-IN" dirty="0"/>
              <a:t>, which are freely available and require minimal additional cost.</a:t>
            </a:r>
          </a:p>
          <a:p>
            <a:r>
              <a:rPr lang="en-IN" dirty="0"/>
              <a:t>• </a:t>
            </a:r>
            <a:r>
              <a:rPr lang="en-IN" b="1" dirty="0"/>
              <a:t>Time Feasibility:</a:t>
            </a:r>
            <a:r>
              <a:rPr lang="en-IN" dirty="0"/>
              <a:t> The project can be completed in phases covering </a:t>
            </a:r>
            <a:r>
              <a:rPr lang="en-IN" b="1" dirty="0"/>
              <a:t>data preparation, model development, evaluation, and web interface development</a:t>
            </a:r>
            <a:r>
              <a:rPr lang="en-IN" dirty="0"/>
              <a:t> within the academic project schedule.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606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5811B5-6ED4-B369-56ED-36BF8CE6C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783C67-2925-801D-65F0-1F17B22C6D18}"/>
              </a:ext>
            </a:extLst>
          </p:cNvPr>
          <p:cNvSpPr txBox="1"/>
          <p:nvPr/>
        </p:nvSpPr>
        <p:spPr>
          <a:xfrm>
            <a:off x="5088467" y="1320800"/>
            <a:ext cx="3251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Project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C7CC0-5934-D610-18D2-81C19AF25FE9}"/>
              </a:ext>
            </a:extLst>
          </p:cNvPr>
          <p:cNvSpPr txBox="1"/>
          <p:nvPr/>
        </p:nvSpPr>
        <p:spPr>
          <a:xfrm>
            <a:off x="685800" y="2005687"/>
            <a:ext cx="112074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Phase 1: Dataset Preparation &amp; Environment Setup — V Sudhir Naik</a:t>
            </a:r>
          </a:p>
          <a:p>
            <a:pPr lvl="0"/>
            <a:r>
              <a:rPr lang="en-IN" dirty="0"/>
              <a:t>Set up Python and Google </a:t>
            </a:r>
            <a:r>
              <a:rPr lang="en-IN" dirty="0" err="1"/>
              <a:t>Colab</a:t>
            </a:r>
            <a:r>
              <a:rPr lang="en-IN" dirty="0"/>
              <a:t> environment. </a:t>
            </a:r>
          </a:p>
          <a:p>
            <a:pPr lvl="0"/>
            <a:r>
              <a:rPr lang="en-IN" dirty="0"/>
              <a:t>Download and organize the </a:t>
            </a:r>
            <a:r>
              <a:rPr lang="en-IN" b="1" dirty="0" err="1"/>
              <a:t>PlantVillage</a:t>
            </a:r>
            <a:r>
              <a:rPr lang="en-IN" b="1" dirty="0"/>
              <a:t> dataset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Resize, normalize, and augment leaf images. </a:t>
            </a:r>
          </a:p>
          <a:p>
            <a:pPr lvl="0"/>
            <a:r>
              <a:rPr lang="en-IN" dirty="0"/>
              <a:t>Split the dataset into training, validation, and testing sets. </a:t>
            </a:r>
          </a:p>
          <a:p>
            <a:r>
              <a:rPr lang="en-IN" b="1" dirty="0"/>
              <a:t>Phase 2: Model Development — G Akshith Reddy</a:t>
            </a:r>
          </a:p>
          <a:p>
            <a:pPr lvl="0"/>
            <a:r>
              <a:rPr lang="en-IN" dirty="0"/>
              <a:t>Select </a:t>
            </a:r>
            <a:r>
              <a:rPr lang="en-IN" b="1" dirty="0" err="1"/>
              <a:t>EfficientNet</a:t>
            </a:r>
            <a:r>
              <a:rPr lang="en-IN" dirty="0"/>
              <a:t> as the main model. </a:t>
            </a:r>
          </a:p>
          <a:p>
            <a:pPr lvl="0"/>
            <a:r>
              <a:rPr lang="en-IN" dirty="0"/>
              <a:t>Apply </a:t>
            </a:r>
            <a:r>
              <a:rPr lang="en-IN" b="1" dirty="0"/>
              <a:t>Transfer Learning</a:t>
            </a:r>
            <a:r>
              <a:rPr lang="en-IN" dirty="0"/>
              <a:t> using the pretrained model. </a:t>
            </a:r>
          </a:p>
          <a:p>
            <a:pPr lvl="0"/>
            <a:r>
              <a:rPr lang="en-IN" dirty="0"/>
              <a:t>Train the model on plant leaf images. </a:t>
            </a:r>
          </a:p>
          <a:p>
            <a:pPr lvl="0"/>
            <a:r>
              <a:rPr lang="en-IN" dirty="0"/>
              <a:t>Fine-tune the model for disease classification. </a:t>
            </a:r>
          </a:p>
          <a:p>
            <a:r>
              <a:rPr lang="en-IN" b="1" dirty="0"/>
              <a:t>Phase 3: Model Evaluation &amp; Analysis — K Harish Reddy</a:t>
            </a:r>
          </a:p>
          <a:p>
            <a:pPr lvl="0"/>
            <a:r>
              <a:rPr lang="en-IN" dirty="0"/>
              <a:t>Test the trained model on unseen images. </a:t>
            </a:r>
          </a:p>
          <a:p>
            <a:pPr lvl="0"/>
            <a:r>
              <a:rPr lang="en-IN" dirty="0"/>
              <a:t>Calculate </a:t>
            </a:r>
            <a:r>
              <a:rPr lang="en-IN" b="1" dirty="0"/>
              <a:t>Accuracy, Precision, Recall, and F1-Score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Generate the </a:t>
            </a:r>
            <a:r>
              <a:rPr lang="en-IN" b="1" dirty="0"/>
              <a:t>Confusion Matrix</a:t>
            </a:r>
            <a:r>
              <a:rPr lang="en-IN" dirty="0"/>
              <a:t>.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incorrect predictions and model performance.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9448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BF10-87D1-D8B0-2AC0-457071F5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/>
              <a:t>				</a:t>
            </a:r>
            <a:r>
              <a:rPr lang="en-IN" sz="2700" b="1" dirty="0"/>
              <a:t>Project Plan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AFD3F-FA3F-53ED-76CC-90FC03DD3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900" b="1" dirty="0"/>
              <a:t>Phase 4: Application Development &amp; Integration — K Yaswanth Reddy</a:t>
            </a:r>
          </a:p>
          <a:p>
            <a:pPr lvl="0"/>
            <a:r>
              <a:rPr lang="en-IN" sz="1900" dirty="0"/>
              <a:t>Develop the </a:t>
            </a:r>
            <a:r>
              <a:rPr lang="en-IN" sz="1900" b="1" dirty="0" err="1"/>
              <a:t>Streamlit</a:t>
            </a:r>
            <a:r>
              <a:rPr lang="en-IN" sz="1900" b="1" dirty="0"/>
              <a:t> web interface</a:t>
            </a:r>
            <a:r>
              <a:rPr lang="en-IN" sz="1900" dirty="0"/>
              <a:t>. </a:t>
            </a:r>
          </a:p>
          <a:p>
            <a:pPr lvl="0"/>
            <a:r>
              <a:rPr lang="en-IN" sz="1900" dirty="0"/>
              <a:t>Connect the trained model to the application. </a:t>
            </a:r>
          </a:p>
          <a:p>
            <a:pPr lvl="0"/>
            <a:r>
              <a:rPr lang="en-IN" sz="1900" dirty="0"/>
              <a:t>Implement leaf image upload and disease prediction. </a:t>
            </a:r>
          </a:p>
          <a:p>
            <a:pPr lvl="0"/>
            <a:r>
              <a:rPr lang="en-IN" sz="1900" dirty="0"/>
              <a:t>Display disease name and confidence score. </a:t>
            </a:r>
          </a:p>
          <a:p>
            <a:r>
              <a:rPr lang="en-IN" sz="1900" b="1" dirty="0"/>
              <a:t>Final Integration &amp; Presentation — All Members</a:t>
            </a:r>
          </a:p>
          <a:p>
            <a:pPr lvl="0"/>
            <a:r>
              <a:rPr lang="en-IN" sz="1900" dirty="0"/>
              <a:t>Integrate all project modules. </a:t>
            </a:r>
          </a:p>
          <a:p>
            <a:pPr lvl="0"/>
            <a:r>
              <a:rPr lang="en-IN" sz="1900" dirty="0"/>
              <a:t>Perform final testing. </a:t>
            </a:r>
          </a:p>
          <a:p>
            <a:pPr lvl="0"/>
            <a:r>
              <a:rPr lang="en-IN" sz="1900" dirty="0"/>
              <a:t>Prepare documentation, PPT, and project demonstration. </a:t>
            </a:r>
          </a:p>
          <a:p>
            <a:pPr lvl="0"/>
            <a:r>
              <a:rPr lang="en-IN" sz="1900" dirty="0"/>
              <a:t>Prepare for viva and final presentation.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B2C2E-2EC3-55EB-1E61-EB463FBF7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139075"/>
            <a:ext cx="7178671" cy="92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9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BC22-EBCE-A7A8-97FA-39F038F2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				</a:t>
            </a:r>
            <a:r>
              <a:rPr lang="en-IN" sz="2400" b="1" dirty="0"/>
              <a:t>Project Plan</a:t>
            </a:r>
            <a:endParaRPr lang="en-IN" sz="24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8E029B5-C136-730C-6CE2-BEBA5A1A8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9958110" cy="4519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243A1B-56F8-2E07-D24F-D9F7F63BF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929" y="230188"/>
            <a:ext cx="7178671" cy="92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9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29BC-A129-0E4A-2191-CD0513BD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90D5-7ED8-6E65-0F74-E7EFCFA3E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5400" dirty="0"/>
          </a:p>
          <a:p>
            <a:pPr marL="0" indent="0">
              <a:buNone/>
            </a:pPr>
            <a:r>
              <a:rPr lang="en-IN" sz="5400" dirty="0"/>
              <a:t>		</a:t>
            </a:r>
          </a:p>
          <a:p>
            <a:pPr marL="0" indent="0">
              <a:buNone/>
            </a:pPr>
            <a:r>
              <a:rPr lang="en-IN" sz="5400" dirty="0"/>
              <a:t>				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33930-9426-4420-2AA6-AB1E8289E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15" y="564043"/>
            <a:ext cx="7178671" cy="92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03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957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Project Plan </vt:lpstr>
      <vt:lpstr>     Project Plan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P</dc:creator>
  <cp:lastModifiedBy>Akshith Reddy</cp:lastModifiedBy>
  <cp:revision>5</cp:revision>
  <dcterms:created xsi:type="dcterms:W3CDTF">2026-08-08T04:55:50Z</dcterms:created>
  <dcterms:modified xsi:type="dcterms:W3CDTF">2026-08-22T05:33:11Z</dcterms:modified>
</cp:coreProperties>
</file>